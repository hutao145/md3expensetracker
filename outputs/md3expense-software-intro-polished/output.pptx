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f6fb8bd1d2483d" /><Relationship Type="http://schemas.openxmlformats.org/officeDocument/2006/relationships/extended-properties" Target="/docProps/app.xml" Id="R8bcfb1802e554163" /><Relationship Type="http://schemas.openxmlformats.org/officeDocument/2006/relationships/officeDocument" Target="/ppt/presentation.xml" Id="R58a72c27b3cc42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b300ae0cb5407c"/>
  </p:sldMasterIdLst>
  <p:notesMasterIdLst>
    <p:notesMasterId xmlns:r="http://schemas.openxmlformats.org/officeDocument/2006/relationships" r:id="Rc598872dd95c4f49"/>
  </p:notesMasterIdLst>
  <p:sldIdLst>
    <p:sldId xmlns:r="http://schemas.openxmlformats.org/officeDocument/2006/relationships" id="256" r:id="Rabed7415778c463e"/>
    <p:sldId xmlns:r="http://schemas.openxmlformats.org/officeDocument/2006/relationships" id="257" r:id="Rb9992d47d2314d00"/>
    <p:sldId xmlns:r="http://schemas.openxmlformats.org/officeDocument/2006/relationships" id="258" r:id="R24f59fc57a6f4daf"/>
    <p:sldId xmlns:r="http://schemas.openxmlformats.org/officeDocument/2006/relationships" id="259" r:id="R58cbb32d99214bbd"/>
    <p:sldId xmlns:r="http://schemas.openxmlformats.org/officeDocument/2006/relationships" id="260" r:id="R80f0e60717b84696"/>
    <p:sldId xmlns:r="http://schemas.openxmlformats.org/officeDocument/2006/relationships" id="261" r:id="R9da1dd1b246f4ca0"/>
    <p:sldId xmlns:r="http://schemas.openxmlformats.org/officeDocument/2006/relationships" id="262" r:id="Rab1953cd2af64db6"/>
    <p:sldId xmlns:r="http://schemas.openxmlformats.org/officeDocument/2006/relationships" id="263" r:id="Rf44d9f560f954994"/>
    <p:sldId xmlns:r="http://schemas.openxmlformats.org/officeDocument/2006/relationships" id="264" r:id="Rd7be5810e88946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300ae0cb5407c" /><Relationship Type="http://schemas.openxmlformats.org/officeDocument/2006/relationships/theme" Target="/ppt/theme/theme1.xml" Id="R6382d5fa093b420c" /><Relationship Type="http://schemas.openxmlformats.org/officeDocument/2006/relationships/notesMaster" Target="/ppt/notesMasters/notesMaster1.xml" Id="Rc598872dd95c4f49" /><Relationship Type="http://schemas.openxmlformats.org/officeDocument/2006/relationships/presProps" Target="/ppt/presProps.xml" Id="R7102c9751b3e4759" /><Relationship Type="http://schemas.openxmlformats.org/officeDocument/2006/relationships/viewProps" Target="/ppt/viewProps.xml" Id="R64fa697408124903" /><Relationship Type="http://schemas.openxmlformats.org/officeDocument/2006/relationships/tableStyles" Target="/ppt/tableStyles.xml" Id="Rf130d3addf8045db" /><Relationship Type="http://schemas.openxmlformats.org/officeDocument/2006/relationships/slide" Target="/ppt/slides/slide1.xml" Id="Rabed7415778c463e" /><Relationship Type="http://schemas.openxmlformats.org/officeDocument/2006/relationships/slide" Target="/ppt/slides/slide2.xml" Id="Rb9992d47d2314d00" /><Relationship Type="http://schemas.openxmlformats.org/officeDocument/2006/relationships/slide" Target="/ppt/slides/slide3.xml" Id="R24f59fc57a6f4daf" /><Relationship Type="http://schemas.openxmlformats.org/officeDocument/2006/relationships/slide" Target="/ppt/slides/slide4.xml" Id="R58cbb32d99214bbd" /><Relationship Type="http://schemas.openxmlformats.org/officeDocument/2006/relationships/slide" Target="/ppt/slides/slide5.xml" Id="R80f0e60717b84696" /><Relationship Type="http://schemas.openxmlformats.org/officeDocument/2006/relationships/slide" Target="/ppt/slides/slide6.xml" Id="R9da1dd1b246f4ca0" /><Relationship Type="http://schemas.openxmlformats.org/officeDocument/2006/relationships/slide" Target="/ppt/slides/slide7.xml" Id="Rab1953cd2af64db6" /><Relationship Type="http://schemas.openxmlformats.org/officeDocument/2006/relationships/slide" Target="/ppt/slides/slide8.xml" Id="Rf44d9f560f954994" /><Relationship Type="http://schemas.openxmlformats.org/officeDocument/2006/relationships/slide" Target="/ppt/slides/slide9.xml" Id="Rd7be5810e88946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20e56be12e744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d1646e55204eaa" /><Relationship Type="http://schemas.openxmlformats.org/officeDocument/2006/relationships/notesMaster" Target="/ppt/notesMasters/notesMaster1.xml" Id="R97cba33e39b94c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cf819839714273" /><Relationship Type="http://schemas.openxmlformats.org/officeDocument/2006/relationships/notesMaster" Target="/ppt/notesMasters/notesMaster1.xml" Id="Rbbb3bbdd00f349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40861b777f43b8" /><Relationship Type="http://schemas.openxmlformats.org/officeDocument/2006/relationships/notesMaster" Target="/ppt/notesMasters/notesMaster1.xml" Id="R786ce19a84084e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d24accc043474e" /><Relationship Type="http://schemas.openxmlformats.org/officeDocument/2006/relationships/notesMaster" Target="/ppt/notesMasters/notesMaster1.xml" Id="R2a5b98452d3742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86723ac4f644e2" /><Relationship Type="http://schemas.openxmlformats.org/officeDocument/2006/relationships/notesMaster" Target="/ppt/notesMasters/notesMaster1.xml" Id="Rce3c35858e8a40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07a0df0fc04bd4" /><Relationship Type="http://schemas.openxmlformats.org/officeDocument/2006/relationships/notesMaster" Target="/ppt/notesMasters/notesMaster1.xml" Id="Ra3ace3f6950742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43f272b7f04f78" /><Relationship Type="http://schemas.openxmlformats.org/officeDocument/2006/relationships/notesMaster" Target="/ppt/notesMasters/notesMaster1.xml" Id="R36eab7dc01224b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9b46edc1104ce5" /><Relationship Type="http://schemas.openxmlformats.org/officeDocument/2006/relationships/notesMaster" Target="/ppt/notesMasters/notesMaster1.xml" Id="Rc05d115d134140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4967225cbf4456" /><Relationship Type="http://schemas.openxmlformats.org/officeDocument/2006/relationships/notesMaster" Target="/ppt/notesMasters/notesMaster1.xml" Id="R22220f649b9340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c0f51228f344e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C09227B-9A2E-46C4-BEC2-73DFDEC4142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4ADD2BA-6CAC-487E-B0AD-88CE61B1218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3B3421-38A0-4F70-A711-39DFBE68CB6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990B35-1DD7-41AA-87BA-EC3342D05B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D8E22-4330-4642-8881-6C7433DC52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43865d0050942d4" /><Relationship Type="http://schemas.openxmlformats.org/officeDocument/2006/relationships/slideLayout" Target="/ppt/slideLayouts/slideLayout2.xml" Id="Rd55f7f7d44084d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26CE28-4831-4FB8-B20D-E7D2F2FF10E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5f7f7d44084d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19ac59cd342a7" /><Relationship Type="http://schemas.openxmlformats.org/officeDocument/2006/relationships/notesSlide" Target="/ppt/notesSlides/notesSlide1.xml" Id="Raa2a756c953f41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dfec58d9084c57" /><Relationship Type="http://schemas.openxmlformats.org/officeDocument/2006/relationships/notesSlide" Target="/ppt/notesSlides/notesSlide2.xml" Id="R6657d704a4014d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fdcff032764d7a" /><Relationship Type="http://schemas.openxmlformats.org/officeDocument/2006/relationships/notesSlide" Target="/ppt/notesSlides/notesSlide3.xml" Id="R12c065ce02d946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e851807d7c41cb" /><Relationship Type="http://schemas.openxmlformats.org/officeDocument/2006/relationships/notesSlide" Target="/ppt/notesSlides/notesSlide4.xml" Id="R6318dac8520743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956edc7fa74e9f" /><Relationship Type="http://schemas.openxmlformats.org/officeDocument/2006/relationships/notesSlide" Target="/ppt/notesSlides/notesSlide5.xml" Id="R9381086e34624f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64bdc931a54657" /><Relationship Type="http://schemas.openxmlformats.org/officeDocument/2006/relationships/notesSlide" Target="/ppt/notesSlides/notesSlide6.xml" Id="Rd316bd5c0ed84d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66f35cc62e40cf" /><Relationship Type="http://schemas.openxmlformats.org/officeDocument/2006/relationships/chart" Target="/ppt/slides/charts/chart1.xml" Id="R530411b29dfb4910" /><Relationship Type="http://schemas.openxmlformats.org/officeDocument/2006/relationships/notesSlide" Target="/ppt/notesSlides/notesSlide7.xml" Id="R8f7f39129d994f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471a924b184a54" /><Relationship Type="http://schemas.openxmlformats.org/officeDocument/2006/relationships/notesSlide" Target="/ppt/notesSlides/notesSlide8.xml" Id="R4ccd584bffcb43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e297ea3bda4d16" /><Relationship Type="http://schemas.openxmlformats.org/officeDocument/2006/relationships/notesSlide" Target="/ppt/notesSlides/notesSlide9.xml" Id="R6e574a6f83b24233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核心技术模块成熟度（示意）</a:t>
            </a:r>
          </a:p>
        </c:rich>
      </c:tx>
      <c:overlay val="0"/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成熟度</c:v>
          </c:tx>
          <c:cat>
            <c:strLit>
              <c:ptCount val="6"/>
              <c:pt idx="0">
                <c:v>UI</c:v>
              </c:pt>
              <c:pt idx="1">
                <c:v>数据存储</c:v>
              </c:pt>
              <c:pt idx="2">
                <c:v>后台任务</c:v>
              </c:pt>
              <c:pt idx="3">
                <c:v>网络同步</c:v>
              </c:pt>
              <c:pt idx="4">
                <c:v>安全能力</c:v>
              </c:pt>
              <c:pt idx="5">
                <c:v>智能分析</c:v>
              </c:pt>
            </c:strLit>
          </c:cat>
          <c:val>
            <c:numLit>
              <c:formatCode/>
              <c:ptCount val="6"/>
              <c:pt idx="0">
                <c:v>92</c:v>
              </c:pt>
              <c:pt idx="1">
                <c:v>90</c:v>
              </c:pt>
              <c:pt idx="2">
                <c:v>86</c:v>
              </c:pt>
              <c:pt idx="3">
                <c:v>82</c:v>
              </c:pt>
              <c:pt idx="4">
                <c:v>88</c:v>
              </c:pt>
              <c:pt idx="5">
                <c:v>79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D8E22-4330-4642-8881-6C7433DC52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E4404-89A6-4A0B-B49E-D6C9ACB4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333500"/>
            <a:ext cx="5334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A0B27-5397-4308-A1DB-F8C6D03A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81341-7949-4408-B789-397326B2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4762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CD5DC-794F-4BDA-87CD-E5C9A53C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1201400" cy="5505450"/>
          </a:xfrm>
          <a:prstGeom xmlns:a="http://schemas.openxmlformats.org/drawingml/2006/main" prst="roundRect">
            <a:avLst>
              <a:gd name="adj" fmla="val 138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E1B96-267C-47D3-9C9F-F0F0ADF3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MD3 EXPENSE TRACKER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5AAB5-E137-4A53-97C0-5F5626B1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5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01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B9F45-52AE-4282-AAEB-F081D4F7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1F401-C92E-4048-A681-C5CC8D9D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430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E1B2E"/>
                </a:solidFill>
              </a:defRPr>
            </a:pPr>
            <a:r>
              <a:rPr sz="4350" b="1">
                <a:solidFill>
                  <a:srgbClr val="1E1B2E"/>
                </a:solidFill>
              </a:rPr>
              <a:t>MD3 Expense Tracker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A90E1-12B8-4015-8C61-C7B2B8CD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B5CF6"/>
                </a:solidFill>
              </a:defRPr>
            </a:pPr>
            <a:r>
              <a:rPr sz="3600" b="1">
                <a:solidFill>
                  <a:srgbClr val="8B5CF6"/>
                </a:solidFill>
              </a:rPr>
              <a:t>Android 本地记账软件介绍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0701B-9862-46FD-B031-2D50F896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面向个人用户的高颜值、强功能、可持续迭代的财务管理应用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5B332-74C0-4264-B422-8E9209F3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A8A97-A04F-4C31-A602-025B89A0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Kotlin · Jetpack Compose · Room · MVVM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2ECC1-4299-46B4-9533-99336843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85900"/>
            <a:ext cx="2952750" cy="4000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B5A5C-7C74-4E1B-B4A0-DB347CFF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1B2E"/>
                </a:solidFill>
              </a:defRPr>
            </a:pPr>
            <a:r>
              <a:rPr sz="1800" b="1">
                <a:solidFill>
                  <a:srgbClr val="1E1B2E"/>
                </a:solidFill>
              </a:rPr>
              <a:t>产品价值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2FE0B-A8AB-4DD5-8EA7-865DA711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095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本地优先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智能分析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安全可控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持续迭代</a:t>
            </a:r>
          </a:p>
        </p:txBody>
      </p:sp>
    </p:spTree>
    <p:extLst>
      <p:ext uri="{BB962C8B-B14F-4D97-AF65-F5344CB8AC3E}">
        <p14:creationId xmlns:p14="http://schemas.microsoft.com/office/powerpoint/2010/main" val="1218741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D8E22-4330-4642-8881-6C7433DC52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4194E-2CCC-4564-9959-FF60EF90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333500"/>
            <a:ext cx="5334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54C9E-E1D2-43ED-BE0B-A6899DC3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71B63-907E-48D6-8433-A6F221E3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4762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DB1F4-591D-4DBA-9109-2EC0A351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产品定位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92BB1-6431-4062-AF22-8F2530D3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5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02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693CA-26C9-4FA2-A938-FB101494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B0AAC-D8BE-4FD3-B145-83E969F1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E1B2E"/>
                </a:solidFill>
              </a:defRPr>
            </a:pPr>
            <a:r>
              <a:rPr sz="3750" b="1">
                <a:solidFill>
                  <a:srgbClr val="1E1B2E"/>
                </a:solidFill>
              </a:rPr>
              <a:t>为什么要做这款记账软件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68ABA-6F79-45FE-BBFE-32E9C966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把记录、分析、决策做成低门槛的日常财务闭环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B9EA5-35AD-432B-BCB7-8AF7CF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C03EE-060A-498B-A613-83F0D180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502B3-4F9F-4041-912B-39CF01F3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记录成本高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FC136-8F14-4BF4-9F06-B865F6E9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3086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很多记账软件录入路径复杂，导致用户难以长期坚持。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0ACC0-8EFE-4E65-84FF-8485F1FB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F1256-6D41-4266-B35A-D07182B0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8B86C-8976-4358-951E-3A443A12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复盘效率低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E60A9-B1CB-4B4E-A75E-4572139C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086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只有流水没有洞察，用户无法快速理解消费结构。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14E71-327D-48F3-AE08-0119C000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89110-D4E7-48D1-A8A0-3148355C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98DABD-CC87-42F1-812E-B932EA05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146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安全诉求强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D2245-7272-4DEE-92BF-B5E98F1A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3086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用户既希望云备份，也希望本地数据完全可控。</a:t>
            </a:r>
          </a:p>
        </p:txBody>
      </p:sp>
    </p:spTree>
    <p:extLst>
      <p:ext uri="{BB962C8B-B14F-4D97-AF65-F5344CB8AC3E}">
        <p14:creationId xmlns:p14="http://schemas.microsoft.com/office/powerpoint/2010/main" val="2032715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D8E22-4330-4642-8881-6C7433DC52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D4FD4-1394-4FD7-85D7-0BBB12E9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333500"/>
            <a:ext cx="5334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7DB3A-3914-4229-866C-3838084D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EC122-1783-49B9-9D91-9E038EE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4762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42EF3-F494-42EF-A5E8-75A5E9C2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核心能力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51CBC-11B8-421B-8F46-A8C89B18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5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03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7C1B4-168F-45C9-843B-64A58E39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DE52F-C304-4523-B659-A9E8E2D2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E1B2E"/>
                </a:solidFill>
              </a:defRPr>
            </a:pPr>
            <a:r>
              <a:rPr sz="3750" b="1">
                <a:solidFill>
                  <a:srgbClr val="1E1B2E"/>
                </a:solidFill>
              </a:rPr>
              <a:t>核心能力全景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E2BC2-C53C-4461-A255-D1590192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覆盖记账、预算、统计、资产、安全与同步等关键场景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F1C5A-8565-4C60-BD4C-A28F1F6B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52768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C8F5C-3CD2-4E53-9A34-D56F6DF6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527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AD618-B932-4C41-82E1-B510DEC6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99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E1B2E"/>
                </a:solidFill>
              </a:defRPr>
            </a:pPr>
            <a:r>
              <a:rPr sz="2700" b="1">
                <a:solidFill>
                  <a:srgbClr val="1E1B2E"/>
                </a:solidFill>
              </a:rPr>
              <a:t>23+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32038-0058-48B2-A434-00F91AC4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499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内置分类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6AB07-06FA-4A51-B220-7B414F86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499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8798"/>
                </a:solidFill>
              </a:defRPr>
            </a:pPr>
            <a:r>
              <a:rPr sz="900" b="0">
                <a:solidFill>
                  <a:srgbClr val="7C8798"/>
                </a:solidFill>
              </a:rPr>
              <a:t>餐饮/交通/购物/薪资等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CAFC0-854C-4F88-97B0-B6B7A122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52768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E60F8-4FE7-4006-B87D-C9F19E2B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527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4746B-4532-4BFD-9D8C-0CF3BAB7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499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E1B2E"/>
                </a:solidFill>
              </a:defRPr>
            </a:pPr>
            <a:r>
              <a:rPr sz="2700" b="1">
                <a:solidFill>
                  <a:srgbClr val="1E1B2E"/>
                </a:solidFill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B0209-6F71-46E0-834F-649A76C9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499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主题方案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BA50B-D97F-48FF-A3AC-6045009A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86175"/>
            <a:ext cx="499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8798"/>
                </a:solidFill>
              </a:defRPr>
            </a:pPr>
            <a:r>
              <a:rPr sz="900" b="0">
                <a:solidFill>
                  <a:srgbClr val="7C8798"/>
                </a:solidFill>
              </a:rPr>
              <a:t>支持动态取色与深浅模式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4E112-094E-44D9-8118-FAB864D6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52768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1C109-2540-4238-8DF6-9AC35F7D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527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95AA8-D65D-4128-AC78-44FFB796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499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E1B2E"/>
                </a:solidFill>
              </a:defRPr>
            </a:pPr>
            <a:r>
              <a:rPr sz="2700" b="1">
                <a:solidFill>
                  <a:srgbClr val="1E1B2E"/>
                </a:solidFill>
              </a:rPr>
              <a:t>1-72h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C3A4C-B07A-4629-B1AA-9B3B2393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499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自动备份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B2D8D-DD57-40F7-8369-1B83ABE9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499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8798"/>
                </a:solidFill>
              </a:defRPr>
            </a:pPr>
            <a:r>
              <a:rPr sz="900" b="0">
                <a:solidFill>
                  <a:srgbClr val="7C8798"/>
                </a:solidFill>
              </a:rPr>
              <a:t>后台任务按周期执行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8C8436-FFCC-43F7-81D3-EFBBB64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43400"/>
            <a:ext cx="52768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7A1084-F98C-489C-8883-58312992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43400"/>
            <a:ext cx="527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9F78C6-12DC-4A53-9A08-A9F9A902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499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E1B2E"/>
                </a:solidFill>
              </a:defRPr>
            </a:pPr>
            <a:r>
              <a:rPr sz="2700" b="1">
                <a:solidFill>
                  <a:srgbClr val="1E1B2E"/>
                </a:solidFill>
              </a:rPr>
              <a:t>30min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228D2-3239-4289-BE8F-FCB3CBD3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72050"/>
            <a:ext cx="499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组件刷新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8E4502-0EA6-4A11-AB91-03949BC9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48275"/>
            <a:ext cx="499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8798"/>
                </a:solidFill>
              </a:defRPr>
            </a:pPr>
            <a:r>
              <a:rPr sz="900" b="0">
                <a:solidFill>
                  <a:srgbClr val="7C8798"/>
                </a:solidFill>
              </a:rPr>
              <a:t>桌面直接查看本月支出</a:t>
            </a:r>
          </a:p>
        </p:txBody>
      </p:sp>
    </p:spTree>
    <p:extLst>
      <p:ext uri="{BB962C8B-B14F-4D97-AF65-F5344CB8AC3E}">
        <p14:creationId xmlns:p14="http://schemas.microsoft.com/office/powerpoint/2010/main" val="1388209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D8E22-4330-4642-8881-6C7433DC52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7FAB0-A0D2-42F9-92F8-5CD1D788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333500"/>
            <a:ext cx="5334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8E563-B7BB-45C1-9447-C8B5616C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1CABA-CA29-4B7C-9137-FD62A91A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4762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2D215-C2AF-4354-B7E2-ED73CEF0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智能分析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57ED5-3F8F-4F0D-8C80-7EA0E209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5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04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3B407-727F-4480-9774-F6C9A794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FDFC1-81A1-4D41-BD6F-4F03B075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E1B2E"/>
                </a:solidFill>
              </a:defRPr>
            </a:pPr>
            <a:r>
              <a:rPr sz="3750" b="1">
                <a:solidFill>
                  <a:srgbClr val="1E1B2E"/>
                </a:solidFill>
              </a:rPr>
              <a:t>AI 财务分析能力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5FD47-0F1E-479C-8851-72D43121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从“看数据”进化到“给建议”，提升决策效率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123C1-C268-4981-9275-F6E4C447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3AC17-6817-487A-AE9C-8DF0B39B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C4285-38D8-4000-A925-DAD66E2D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健康评分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E853C-221F-4ED0-805D-F783F125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3086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基于收支结构和波动特征输出 0-100 综合评分。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92B96-7770-4EC5-AF10-FBC21CB6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F253C-E40A-4F1E-8795-42269FFC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D210B-2072-4FB0-B761-1D35F130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深度洞察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F4591-6471-4A3E-8BF7-0B30FBE7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086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识别异常消费、习惯模式和阶段性风险点。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F9EA4-9509-4880-A146-41056807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6CE0D-6A5A-4581-9E8A-EC6CECB7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C8BEB-62F9-4617-8E3E-BE160D8B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146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行动清单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CB7B4-56F9-45F9-AEB2-CD46E454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3086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给出优先级明确、可立即执行的改善建议。</a:t>
            </a:r>
          </a:p>
        </p:txBody>
      </p:sp>
    </p:spTree>
    <p:extLst>
      <p:ext uri="{BB962C8B-B14F-4D97-AF65-F5344CB8AC3E}">
        <p14:creationId xmlns:p14="http://schemas.microsoft.com/office/powerpoint/2010/main" val="1385805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D8E22-4330-4642-8881-6C7433DC52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4054F-523E-4697-8624-FECFA996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333500"/>
            <a:ext cx="5334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18D5A-B97D-4058-96C6-14C7B61C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16512-3039-4BE5-9913-17E7E446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4762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75FF5-A10E-4525-B78C-4ED9FB8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数据安全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CA0AB-0B72-4511-9D54-BFCADF48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5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05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8EE62-B2FA-4AC2-883B-69AE4CDD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FB3FF-15BE-41E0-927F-7D1BD4F4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E1B2E"/>
                </a:solidFill>
              </a:defRPr>
            </a:pPr>
            <a:r>
              <a:rPr sz="3750" b="1">
                <a:solidFill>
                  <a:srgbClr val="1E1B2E"/>
                </a:solidFill>
              </a:rPr>
              <a:t>隐私与数据安全设计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41D18-1A64-43B0-B708-47F98C45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本地优先 + 双路径备份 + 身份认证，保障账本资产安全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DE514-1E44-41B0-9AC2-D95E8CA6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465E8-62BD-41A9-899A-DA94F99A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A0B87-3EFC-4F27-A16C-B2C174AB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本地优先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06FE9-0B07-4A76-B53E-B8EC2F20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3086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核心数据存储于本地 Room，离线也能稳定使用。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8F3A7-70B0-406F-AEB1-BBB28241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70C06-D293-4401-BD52-B2E06060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736EA-7B2E-4B70-AD83-3271D424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双通道备份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8CAA3-BD5A-4461-AE11-C3C185A9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086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支持 WebDAV 与 CSV 导入导出，提升可恢复能力。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44E9A-9839-4F17-91F0-1A59969A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65010-0462-41CE-BF49-7D41CF17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57DAC-F49C-4485-AEF0-A86F8F2A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146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访问保护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182F4-D583-4D78-B0D2-177C0FC7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3086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PIN 与生物识别联动，防止未授权访问。</a:t>
            </a:r>
          </a:p>
        </p:txBody>
      </p:sp>
    </p:spTree>
    <p:extLst>
      <p:ext uri="{BB962C8B-B14F-4D97-AF65-F5344CB8AC3E}">
        <p14:creationId xmlns:p14="http://schemas.microsoft.com/office/powerpoint/2010/main" val="1363520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D8E22-4330-4642-8881-6C7433DC52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696C2-1A1C-4F37-A40A-1485404F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333500"/>
            <a:ext cx="5334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485BD-E360-4AE7-B797-91699BA8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95CEA-DE41-458A-93FF-180F7540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4762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C34DE-9898-43E8-AD3C-6428A7E5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系统架构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2F181-3CB3-409B-86F1-F76015EC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5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06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652DE-38DA-4C75-9D70-6918D6A0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BB73E-BBC4-46AD-9898-1531AF00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E1B2E"/>
                </a:solidFill>
              </a:defRPr>
            </a:pPr>
            <a:r>
              <a:rPr sz="3750" b="1">
                <a:solidFill>
                  <a:srgbClr val="1E1B2E"/>
                </a:solidFill>
              </a:rPr>
              <a:t>技术架构与模块分层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9E896-8670-4040-9D3F-00886150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单 Activity + MVVM，按职责拆分为数据、业务、表现三层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C8625-2DD4-45C9-B2E4-D1BEE7ED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429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D7428-F2E4-462B-925C-B00F0CD9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E112F-B5D9-4FFB-98A3-8AFB5C6B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1B2E"/>
                </a:solidFill>
              </a:defRPr>
            </a:pPr>
            <a:r>
              <a:rPr sz="1800" b="1">
                <a:solidFill>
                  <a:srgbClr val="1E1B2E"/>
                </a:solidFill>
              </a:rPr>
              <a:t>数据层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6B21A-278E-499B-8D98-EB5CF6D4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CBCD9-FE1C-47F9-A5FD-DCDDA43D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Room 数据库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AA7AE-9036-4A8E-9221-93A469DC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63CBB-BDF7-4EB5-8A3D-757B3908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8622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DAO + Repository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8F576-E3E1-4993-A426-74024241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7BEB4-BD0B-4A02-82F2-B1002A5F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9582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WebDAV / AI / 同步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28B70-4F9B-41CB-8C0C-D0D0256E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429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0878E-142A-4000-9AEE-7380C2D7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22282-931A-40B4-92F3-8C05909D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480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1B2E"/>
                </a:solidFill>
              </a:defRPr>
            </a:pPr>
            <a:r>
              <a:rPr sz="1800" b="1">
                <a:solidFill>
                  <a:srgbClr val="1E1B2E"/>
                </a:solidFill>
              </a:rPr>
              <a:t>业务层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5A3E2-7B14-4B60-8F9D-81E53DF9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EF8A6-AA3C-4CAB-852F-7188D885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7662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ExpenseViewModel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1A58A7-6190-4AC4-BD8B-7734A629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3C1B3-C578-4A38-8199-F1828C12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8622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预算与统计聚合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11C7F9-BAC2-448E-816C-E73FD91C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4A0F7F-30CB-4A9A-81E2-962DBC3F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9582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备份与安全策略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38E029-1D8C-49BA-8DD0-CABAB67B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3429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0DB80-1875-4428-B94A-49E92341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6FA3F3-1BD8-4D7A-B453-38E1735A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1B2E"/>
                </a:solidFill>
              </a:defRPr>
            </a:pPr>
            <a:r>
              <a:rPr sz="1800" b="1">
                <a:solidFill>
                  <a:srgbClr val="1E1B2E"/>
                </a:solidFill>
              </a:rPr>
              <a:t>表现层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FCDF8C-B622-4EFF-AD24-13AB0006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D3E5E7-CB02-4C84-BC0D-11529ED3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Compose Screen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60FEE2-E7C1-4A9F-8969-E22CCDDF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C1A616-B974-4F0C-A90F-33ADF278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8622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组件化 UI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2A9E1-A681-4743-A6DF-EB5AF0FF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26B504-A556-4E94-B279-43354830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9582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Glance 小组件</a:t>
            </a:r>
          </a:p>
        </p:txBody>
      </p:sp>
    </p:spTree>
    <p:extLst>
      <p:ext uri="{BB962C8B-B14F-4D97-AF65-F5344CB8AC3E}">
        <p14:creationId xmlns:p14="http://schemas.microsoft.com/office/powerpoint/2010/main" val="1659340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D8E22-4330-4642-8881-6C7433DC52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04E87-C3F8-4D0C-AC6F-F5C1E33E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333500"/>
            <a:ext cx="5334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13DE5-2D29-48F2-AD88-78ECB73F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0B03C-A811-42F0-948A-EFFD7BE0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4762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B1FEB-1345-4A25-BB58-1FCEB972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工程实现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73906-0805-416A-A52F-629B565D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5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07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50F47-9124-428F-8441-B85B98D0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5F5F3-0DD6-4D7D-95F2-BA72E7D3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E1B2E"/>
                </a:solidFill>
              </a:defRPr>
            </a:pPr>
            <a:r>
              <a:rPr sz="3750" b="1">
                <a:solidFill>
                  <a:srgbClr val="1E1B2E"/>
                </a:solidFill>
              </a:rPr>
              <a:t>技术栈与工程质量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8AB24-2270-4612-A4AE-8D326422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现代 Android 技术体系，兼顾开发效率、稳定性与可维护性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5F3D8-E84D-4229-9B4C-8E296E4D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089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76300" y="3124200"/>
          <a:ext xmlns:a="http://schemas.openxmlformats.org/drawingml/2006/main" cx="70104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0411b29dfb4910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76F0A-9425-4B91-A661-6FB2609A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28C40-7EBE-4F57-8DD2-8C30044C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</a:defRPr>
            </a:pPr>
            <a:r>
              <a:rPr sz="1800" b="1">
                <a:solidFill>
                  <a:srgbClr val="8B5CF6"/>
                </a:solidFill>
              </a:rPr>
              <a:t>工程亮点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32C66-F5A0-48FD-BBBF-82DD8EAE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5908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• Kotlin + Compose 提升迭代效率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• Room + Flow 保障数据一致性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• WorkManager 提供稳定后台任务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• PIN + 生物识别强化访问安全</a:t>
            </a:r>
          </a:p>
        </p:txBody>
      </p:sp>
    </p:spTree>
    <p:extLst>
      <p:ext uri="{BB962C8B-B14F-4D97-AF65-F5344CB8AC3E}">
        <p14:creationId xmlns:p14="http://schemas.microsoft.com/office/powerpoint/2010/main" val="5228242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D8E22-4330-4642-8881-6C7433DC52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AF676-9A1C-4991-B7C0-063CF711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333500"/>
            <a:ext cx="5334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6E506-709D-43B1-99AF-A83C1F79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087A7-816B-4186-9145-0BF2686E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4762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CF634-BB33-41C7-A429-558BD9EE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业务流程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C0018-2C65-4900-B9CA-F172608E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5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08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E1E65-9596-4337-9DF7-964DD9F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85D18-58C1-4D07-818E-3FBB057B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E1B2E"/>
                </a:solidFill>
              </a:defRPr>
            </a:pPr>
            <a:r>
              <a:rPr sz="3750" b="1">
                <a:solidFill>
                  <a:srgbClr val="1E1B2E"/>
                </a:solidFill>
              </a:rPr>
              <a:t>典型使用流程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9BF27-191D-4EF2-89BB-0704DEF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从记录到复盘再到优化建议，形成可持续财务管理习惯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9D51B-C1C9-4CC7-B79E-5ED65ABF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FE052-B8F1-4A54-B1E1-559801C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194A8-4711-4D02-BDD0-C63DC118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719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5C62D-2E3F-4A1A-8704-8D9DBC38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快速记账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276C5-43E3-4CAC-B301-E3E17379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随手录入收支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E42F5-CC5E-406A-AD3E-7E91B6E3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053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FDE31-7A6B-461F-863B-0B1738FD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3409E-8897-4BAA-9C73-FA9B0A9D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C1C2C-D646-4934-8F33-70C3C490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719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604B9-9CE5-4EB9-8552-8E2C6564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052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分类归集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66C21-185F-4E7D-B26C-CD01DAF1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624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自动归类关联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CCD07-0569-44CB-8D7F-02993373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053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87E77-2E51-49AD-8820-76781159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14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33E23-751F-4193-82BD-103C9627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81356-6817-4F38-84B2-9DF014C3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9719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C3D8D-5447-4DB8-AC17-EDF6D5BB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052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预算追踪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C00988-CCBE-4CBE-A7DA-E5EE7421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624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预算进度可视化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4A11E9-1767-46A5-A238-0DB602F9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053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43B237-EBC1-4B4B-B213-A56C5860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14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F56B77-AA88-41DD-B8E6-40A86A84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502A1D-4DA8-4723-A79B-FFE0D46C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719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848B79-E48E-4777-A307-0DE5C55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统计复盘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37EB87-F24B-4A48-A897-891DEC43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624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趋势结构复盘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74F753-8E33-4EE5-8707-FA8ADBF4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053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CAEBB6-8637-4D3E-B79D-E1A52C83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14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294EBF-D66F-4974-AE26-CF380928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BC4C43-0455-495B-8E65-10C89F91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9719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6C50BD-CFE1-4AFA-BAF7-5A06A3F1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9052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AI建议执行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12770-BDC9-48A3-976E-0B35EBF5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624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形成行动清单</a:t>
            </a:r>
          </a:p>
        </p:txBody>
      </p:sp>
    </p:spTree>
    <p:extLst>
      <p:ext uri="{BB962C8B-B14F-4D97-AF65-F5344CB8AC3E}">
        <p14:creationId xmlns:p14="http://schemas.microsoft.com/office/powerpoint/2010/main" val="15689790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D8E22-4330-4642-8881-6C7433DC52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36859-E64C-4D22-ABEA-6EA62D16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333500"/>
            <a:ext cx="5334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6F8D3-1B93-4E9D-A72F-C8FACAB4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BC824-C16C-452B-A7C6-3A885194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4762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A3ACE-DA03-44C0-875C-B867E84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总结与规划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4109B-E309-488A-886D-170A049F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5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09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04095-F75C-421E-AD1C-95B271A2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A5E44-0028-45F4-A3F3-06AFDD41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E1B2E"/>
                </a:solidFill>
              </a:defRPr>
            </a:pPr>
            <a:r>
              <a:rPr sz="3750" b="1">
                <a:solidFill>
                  <a:srgbClr val="1E1B2E"/>
                </a:solidFill>
              </a:rPr>
              <a:t>当前成果与后续路线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48115-ADF3-44B3-A596-E0D6EF9C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在稳定可用基础上持续增强智能化和生态协同能力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29F78-D562-45C2-B361-50CBAD03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58C69-4009-45C8-85E0-34782C95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5CE63-51FE-4869-AE33-8C9578C9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已完成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C67CA-4F8F-4A52-AB43-66410760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3086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记账、统计、资产管理、备份同步与应用安全能力已形成闭环。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6A8F2-C682-42D7-A786-79624858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FCA1E-D142-4134-8CEB-4EE54A64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B4AB7-8F17-43FC-AED1-8297EDFA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短期计划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03EB9-B9FF-404A-B242-81FADCCC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086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继续优化多设备体验与异常消费提醒能力。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7676C-636C-4854-BE83-3C790C9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8DC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A08BF-69FE-42CA-8831-27456EF5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44EFF-723F-421B-91ED-FB472DCE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146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B2E"/>
                </a:solidFill>
              </a:defRPr>
            </a:pPr>
            <a:r>
              <a:rPr sz="1500" b="1">
                <a:solidFill>
                  <a:srgbClr val="1E1B2E"/>
                </a:solidFill>
              </a:rPr>
              <a:t>长期方向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CFCBA8-DB31-4151-A1CB-731ADBEF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3086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构建更主动的个人财务助手，强化自动化决策支持。</a:t>
            </a:r>
          </a:p>
        </p:txBody>
      </p:sp>
    </p:spTree>
    <p:extLst>
      <p:ext uri="{BB962C8B-B14F-4D97-AF65-F5344CB8AC3E}">
        <p14:creationId xmlns:p14="http://schemas.microsoft.com/office/powerpoint/2010/main" val="1518845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2026-04-25T10:29:01.3650000Z</dcterms:created>
  <dcterms:modified xsi:type="dcterms:W3CDTF">2026-04-25T10:29:01.3650000Z</dcterms:modified>
</coreProperties>
</file>