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234b2e9ab4402" /><Relationship Type="http://schemas.openxmlformats.org/officeDocument/2006/relationships/extended-properties" Target="/docProps/app.xml" Id="R463d960eb54949c6" /><Relationship Type="http://schemas.openxmlformats.org/officeDocument/2006/relationships/officeDocument" Target="/ppt/presentation.xml" Id="R7bb2d231d6aa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c04ff37214472"/>
  </p:sldMasterIdLst>
  <p:notesMasterIdLst>
    <p:notesMasterId xmlns:r="http://schemas.openxmlformats.org/officeDocument/2006/relationships" r:id="Rcfe51cb3f9ec4914"/>
  </p:notesMasterIdLst>
  <p:sldIdLst>
    <p:sldId xmlns:r="http://schemas.openxmlformats.org/officeDocument/2006/relationships" id="256" r:id="R44aa9a2d8e744ae1"/>
    <p:sldId xmlns:r="http://schemas.openxmlformats.org/officeDocument/2006/relationships" id="257" r:id="Re6b7f23f7d1b4ee2"/>
    <p:sldId xmlns:r="http://schemas.openxmlformats.org/officeDocument/2006/relationships" id="258" r:id="R27ee2804c94c4712"/>
    <p:sldId xmlns:r="http://schemas.openxmlformats.org/officeDocument/2006/relationships" id="259" r:id="Rf74da1cae15c419f"/>
    <p:sldId xmlns:r="http://schemas.openxmlformats.org/officeDocument/2006/relationships" id="260" r:id="R1a1fcc675a0443f4"/>
    <p:sldId xmlns:r="http://schemas.openxmlformats.org/officeDocument/2006/relationships" id="261" r:id="Rc272ae4dc95d4d1c"/>
    <p:sldId xmlns:r="http://schemas.openxmlformats.org/officeDocument/2006/relationships" id="262" r:id="R0a69c71c3f13411a"/>
    <p:sldId xmlns:r="http://schemas.openxmlformats.org/officeDocument/2006/relationships" id="263" r:id="Rdd217ef0a29e4c19"/>
    <p:sldId xmlns:r="http://schemas.openxmlformats.org/officeDocument/2006/relationships" id="264" r:id="Refc3afc86f3747a9"/>
    <p:sldId xmlns:r="http://schemas.openxmlformats.org/officeDocument/2006/relationships" id="265" r:id="Rc482d45f5c8c4bc3"/>
    <p:sldId xmlns:r="http://schemas.openxmlformats.org/officeDocument/2006/relationships" id="266" r:id="R623ea61867414e75"/>
    <p:sldId xmlns:r="http://schemas.openxmlformats.org/officeDocument/2006/relationships" id="267" r:id="Rf6a43fd5b10d4ac0"/>
    <p:sldId xmlns:r="http://schemas.openxmlformats.org/officeDocument/2006/relationships" id="268" r:id="R5790aea9c3b8415a"/>
    <p:sldId xmlns:r="http://schemas.openxmlformats.org/officeDocument/2006/relationships" id="269" r:id="R64cf3c3337e4442f"/>
    <p:sldId xmlns:r="http://schemas.openxmlformats.org/officeDocument/2006/relationships" id="270" r:id="Ra08f02e1ad8647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c04ff37214472" /><Relationship Type="http://schemas.openxmlformats.org/officeDocument/2006/relationships/theme" Target="/ppt/theme/theme1.xml" Id="Rab691d0a56c249a2" /><Relationship Type="http://schemas.openxmlformats.org/officeDocument/2006/relationships/notesMaster" Target="/ppt/notesMasters/notesMaster1.xml" Id="Rcfe51cb3f9ec4914" /><Relationship Type="http://schemas.openxmlformats.org/officeDocument/2006/relationships/presProps" Target="/ppt/presProps.xml" Id="Rc6813f0254e84221" /><Relationship Type="http://schemas.openxmlformats.org/officeDocument/2006/relationships/viewProps" Target="/ppt/viewProps.xml" Id="Rfc50a7191936462f" /><Relationship Type="http://schemas.openxmlformats.org/officeDocument/2006/relationships/tableStyles" Target="/ppt/tableStyles.xml" Id="Re21a6ebb32864a1a" /><Relationship Type="http://schemas.openxmlformats.org/officeDocument/2006/relationships/slide" Target="/ppt/slides/slide1.xml" Id="R44aa9a2d8e744ae1" /><Relationship Type="http://schemas.openxmlformats.org/officeDocument/2006/relationships/slide" Target="/ppt/slides/slide2.xml" Id="Re6b7f23f7d1b4ee2" /><Relationship Type="http://schemas.openxmlformats.org/officeDocument/2006/relationships/slide" Target="/ppt/slides/slide3.xml" Id="R27ee2804c94c4712" /><Relationship Type="http://schemas.openxmlformats.org/officeDocument/2006/relationships/slide" Target="/ppt/slides/slide4.xml" Id="Rf74da1cae15c419f" /><Relationship Type="http://schemas.openxmlformats.org/officeDocument/2006/relationships/slide" Target="/ppt/slides/slide5.xml" Id="R1a1fcc675a0443f4" /><Relationship Type="http://schemas.openxmlformats.org/officeDocument/2006/relationships/slide" Target="/ppt/slides/slide6.xml" Id="Rc272ae4dc95d4d1c" /><Relationship Type="http://schemas.openxmlformats.org/officeDocument/2006/relationships/slide" Target="/ppt/slides/slide7.xml" Id="R0a69c71c3f13411a" /><Relationship Type="http://schemas.openxmlformats.org/officeDocument/2006/relationships/slide" Target="/ppt/slides/slide8.xml" Id="Rdd217ef0a29e4c19" /><Relationship Type="http://schemas.openxmlformats.org/officeDocument/2006/relationships/slide" Target="/ppt/slides/slide9.xml" Id="Refc3afc86f3747a9" /><Relationship Type="http://schemas.openxmlformats.org/officeDocument/2006/relationships/slide" Target="/ppt/slides/slide10.xml" Id="Rc482d45f5c8c4bc3" /><Relationship Type="http://schemas.openxmlformats.org/officeDocument/2006/relationships/slide" Target="/ppt/slides/slide11.xml" Id="R623ea61867414e75" /><Relationship Type="http://schemas.openxmlformats.org/officeDocument/2006/relationships/slide" Target="/ppt/slides/slide12.xml" Id="Rf6a43fd5b10d4ac0" /><Relationship Type="http://schemas.openxmlformats.org/officeDocument/2006/relationships/slide" Target="/ppt/slides/slide13.xml" Id="R5790aea9c3b8415a" /><Relationship Type="http://schemas.openxmlformats.org/officeDocument/2006/relationships/slide" Target="/ppt/slides/slide14.xml" Id="R64cf3c3337e4442f" /><Relationship Type="http://schemas.openxmlformats.org/officeDocument/2006/relationships/slide" Target="/ppt/slides/slide15.xml" Id="Ra08f02e1ad86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05431dbe0c4a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66c48b34847f4" /><Relationship Type="http://schemas.openxmlformats.org/officeDocument/2006/relationships/notesMaster" Target="/ppt/notesMasters/notesMaster1.xml" Id="Rb23f3257655c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cba06041e4c68" /><Relationship Type="http://schemas.openxmlformats.org/officeDocument/2006/relationships/notesMaster" Target="/ppt/notesMasters/notesMaster1.xml" Id="Rc0cca97048cb47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0e1d7565a45ef" /><Relationship Type="http://schemas.openxmlformats.org/officeDocument/2006/relationships/notesMaster" Target="/ppt/notesMasters/notesMaster1.xml" Id="Rdcaa49f5fc0746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159131da548e5" /><Relationship Type="http://schemas.openxmlformats.org/officeDocument/2006/relationships/notesMaster" Target="/ppt/notesMasters/notesMaster1.xml" Id="R3d72782781374f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3c637e36964b76" /><Relationship Type="http://schemas.openxmlformats.org/officeDocument/2006/relationships/notesMaster" Target="/ppt/notesMasters/notesMaster1.xml" Id="Rbd13fc54df18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299e1fcf74f23" /><Relationship Type="http://schemas.openxmlformats.org/officeDocument/2006/relationships/notesMaster" Target="/ppt/notesMasters/notesMaster1.xml" Id="R1aa80d306906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d71464e3f542fb" /><Relationship Type="http://schemas.openxmlformats.org/officeDocument/2006/relationships/notesMaster" Target="/ppt/notesMasters/notesMaster1.xml" Id="R9bb5f6fd5423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595f780d244f66" /><Relationship Type="http://schemas.openxmlformats.org/officeDocument/2006/relationships/notesMaster" Target="/ppt/notesMasters/notesMaster1.xml" Id="Re0fe7cc9f22841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2213ad7bc04cb9" /><Relationship Type="http://schemas.openxmlformats.org/officeDocument/2006/relationships/notesMaster" Target="/ppt/notesMasters/notesMaster1.xml" Id="R305a972f758649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7e5c7641fe474f" /><Relationship Type="http://schemas.openxmlformats.org/officeDocument/2006/relationships/notesMaster" Target="/ppt/notesMasters/notesMaster1.xml" Id="R03108d15f2db45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782ae67c844086" /><Relationship Type="http://schemas.openxmlformats.org/officeDocument/2006/relationships/notesMaster" Target="/ppt/notesMasters/notesMaster1.xml" Id="Re33370107f0c46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d39c34447d4627" /><Relationship Type="http://schemas.openxmlformats.org/officeDocument/2006/relationships/notesMaster" Target="/ppt/notesMasters/notesMaster1.xml" Id="Rc4dc92cef9d34a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4cb4fd2cbb46a6" /><Relationship Type="http://schemas.openxmlformats.org/officeDocument/2006/relationships/notesMaster" Target="/ppt/notesMasters/notesMaster1.xml" Id="R516653b28ec342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1274eeb0b4493d" /><Relationship Type="http://schemas.openxmlformats.org/officeDocument/2006/relationships/notesMaster" Target="/ppt/notesMasters/notesMaster1.xml" Id="Rfb95fe99bd8843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b9c6a3f0a24efe" /><Relationship Type="http://schemas.openxmlformats.org/officeDocument/2006/relationships/notesMaster" Target="/ppt/notesMasters/notesMaster1.xml" Id="Rc1d12f910dab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3ef12292142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9D78C0B-56C3-4806-97D8-FAD752D0C1D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0EE7C2-921A-474F-92F4-8B8A4EE7347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B040F2-571A-4197-9A3B-2E958C5E36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2AA151-0E54-4C86-B7B2-43931F00F21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aa109c606946b5" /><Relationship Type="http://schemas.openxmlformats.org/officeDocument/2006/relationships/slideLayout" Target="/ppt/slideLayouts/slideLayout2.xml" Id="R56931844f73b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FB6BCC-D149-485E-9752-DF564B6E676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31844f73b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8404023c140bd" /><Relationship Type="http://schemas.openxmlformats.org/officeDocument/2006/relationships/notesSlide" Target="/ppt/notesSlides/notesSlide1.xml" Id="R5f9e9a9d07f8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d087485574450d" /><Relationship Type="http://schemas.openxmlformats.org/officeDocument/2006/relationships/notesSlide" Target="/ppt/notesSlides/notesSlide2.xml" Id="R1cc9fb9f8e3a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2db23d4a84b8d" /><Relationship Type="http://schemas.openxmlformats.org/officeDocument/2006/relationships/notesSlide" Target="/ppt/notesSlides/notesSlide3.xml" Id="Rc6c8bc76a58345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9d8d5ee0c4ea9" /><Relationship Type="http://schemas.openxmlformats.org/officeDocument/2006/relationships/notesSlide" Target="/ppt/notesSlides/notesSlide4.xml" Id="R156f99399357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a23fe333549c5" /><Relationship Type="http://schemas.openxmlformats.org/officeDocument/2006/relationships/notesSlide" Target="/ppt/notesSlides/notesSlide5.xml" Id="Rc0e810c2ba34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1f9fff281840ab" /><Relationship Type="http://schemas.openxmlformats.org/officeDocument/2006/relationships/notesSlide" Target="/ppt/notesSlides/notesSlide6.xml" Id="R433a8175d7da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45a4e36b34938" /><Relationship Type="http://schemas.openxmlformats.org/officeDocument/2006/relationships/chart" Target="/ppt/slides/charts/chart1.xml" Id="R360bb4509d6f4541" /><Relationship Type="http://schemas.openxmlformats.org/officeDocument/2006/relationships/notesSlide" Target="/ppt/notesSlides/notesSlide7.xml" Id="Rd48ca97a255f45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c3a17b4be4c27" /><Relationship Type="http://schemas.openxmlformats.org/officeDocument/2006/relationships/notesSlide" Target="/ppt/notesSlides/notesSlide8.xml" Id="Rac259bf62aef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f7ff61e5f64bc6" /><Relationship Type="http://schemas.openxmlformats.org/officeDocument/2006/relationships/notesSlide" Target="/ppt/notesSlides/notesSlide9.xml" Id="Re14cf23a48d244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b0bcefd4944ac3" /><Relationship Type="http://schemas.openxmlformats.org/officeDocument/2006/relationships/notesSlide" Target="/ppt/notesSlides/notesSlide10.xml" Id="Re98bcf70998a4a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f76b080c764e1f" /><Relationship Type="http://schemas.openxmlformats.org/officeDocument/2006/relationships/notesSlide" Target="/ppt/notesSlides/notesSlide11.xml" Id="R95262f46c9d54f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97e071d3c4e10" /><Relationship Type="http://schemas.openxmlformats.org/officeDocument/2006/relationships/notesSlide" Target="/ppt/notesSlides/notesSlide12.xml" Id="R330d9ab5688641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38a959c5e4b06" /><Relationship Type="http://schemas.openxmlformats.org/officeDocument/2006/relationships/notesSlide" Target="/ppt/notesSlides/notesSlide13.xml" Id="R1e325e29a36c48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646f1dc4f460a" /><Relationship Type="http://schemas.openxmlformats.org/officeDocument/2006/relationships/chart" Target="/ppt/slides/charts/chart2.xml" Id="Rf329fe76d35a48ff" /><Relationship Type="http://schemas.openxmlformats.org/officeDocument/2006/relationships/notesSlide" Target="/ppt/notesSlides/notesSlide14.xml" Id="R1bc5f8042b9644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81d1c03f14466" /><Relationship Type="http://schemas.openxmlformats.org/officeDocument/2006/relationships/notesSlide" Target="/ppt/notesSlides/notesSlide15.xml" Id="R75b46709c8354594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统计能力覆盖（示意）</a:t>
            </a:r>
          </a:p>
        </c:rich>
      </c:tx>
      <c:overlay val="0"/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完备度</c:v>
          </c:tx>
          <c:cat>
            <c:strLit>
              <c:ptCount val="6"/>
              <c:pt idx="0">
                <c:v>日汇总</c:v>
              </c:pt>
              <c:pt idx="1">
                <c:v>分类占比</c:v>
              </c:pt>
              <c:pt idx="2">
                <c:v>趋势分析</c:v>
              </c:pt>
              <c:pt idx="3">
                <c:v>预算追踪</c:v>
              </c:pt>
              <c:pt idx="4">
                <c:v>周期切换</c:v>
              </c:pt>
              <c:pt idx="5">
                <c:v>横屏详情</c:v>
              </c:pt>
            </c:strLit>
          </c:cat>
          <c:val>
            <c:numLit>
              <c:formatCode/>
              <c:ptCount val="6"/>
              <c:pt idx="0">
                <c:v>95</c:v>
              </c:pt>
              <c:pt idx="1">
                <c:v>92</c:v>
              </c:pt>
              <c:pt idx="2">
                <c:v>90</c:v>
              </c:pt>
              <c:pt idx="3">
                <c:v>88</c:v>
              </c:pt>
              <c:pt idx="4">
                <c:v>86</c:v>
              </c:pt>
              <c:pt idx="5">
                <c:v>80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模块复杂度占比（示意）</a:t>
            </a:r>
          </a:p>
        </c:rich>
      </c:tx>
      <c:overlay val="0"/>
    </c:title>
    <c:autoTitleDeleted val="0"/>
    <c:view3D/>
    <c:plotArea>
      <c:layout/>
      <c:pieChart>
        <c:ser>
          <c:idx val="0"/>
          <c:order val="0"/>
          <c:tx>
            <c:v>占比</c:v>
          </c:tx>
          <c:cat>
            <c:strLit>
              <c:ptCount val="5"/>
              <c:pt idx="0">
                <c:v>UI层</c:v>
              </c:pt>
              <c:pt idx="1">
                <c:v>业务层</c:v>
              </c:pt>
              <c:pt idx="2">
                <c:v>数据层</c:v>
              </c:pt>
              <c:pt idx="3">
                <c:v>安全与备份</c:v>
              </c:pt>
              <c:pt idx="4">
                <c:v>系统集成</c:v>
              </c:pt>
            </c:strLit>
          </c:cat>
          <c:val>
            <c:numLit>
              <c:formatCode>General</c:formatCode>
              <c:ptCount val="5"/>
              <c:pt idx="0">
                <c:v>30</c:v>
              </c:pt>
              <c:pt idx="1">
                <c:v>25</c:v>
              </c:pt>
              <c:pt idx="2">
                <c:v>20</c:v>
              </c:pt>
              <c:pt idx="3">
                <c:v>15</c:v>
              </c:pt>
              <c:pt idx="4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2B2DD-9653-43AF-8678-F160108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05A7C-448D-4F78-8605-231437D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0B902-490B-4F83-81DB-15DD83B8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AD03A-B213-4C1A-A1C4-D5AAE39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550545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FFD05-A9E0-4A53-8BB4-15484DA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MD3 EXPENSE TRACKER · 软件介绍完整版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1937F-29CD-4F5F-9D6C-8F9977C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01 /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31ADA-AE03-43F5-8FC0-FD2287E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AEE03-49FB-4C32-BFC3-67726CC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C1B2E"/>
                </a:solidFill>
              </a:defRPr>
            </a:pPr>
            <a:r>
              <a:rPr sz="4350" b="1">
                <a:solidFill>
                  <a:srgbClr val="1C1B2E"/>
                </a:solidFill>
              </a:rPr>
              <a:t>MD3 Expense Tracker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BF5BF-FF8F-4D32-BEDE-67DE00B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8B5CF6"/>
                </a:solidFill>
              </a:defRPr>
            </a:pPr>
            <a:r>
              <a:rPr sz="3375" b="1">
                <a:solidFill>
                  <a:srgbClr val="8B5CF6"/>
                </a:solidFill>
              </a:rPr>
              <a:t>Android 本地记账应用</a:t>
            </a:r>
          </a:p>
          <a:p xmlns:a="http://schemas.openxmlformats.org/drawingml/2006/main">
            <a:pPr algn="l">
              <a:defRPr sz="3375" b="1">
                <a:solidFill>
                  <a:srgbClr val="8B5CF6"/>
                </a:solidFill>
              </a:defRPr>
            </a:pPr>
            <a:r>
              <a:rPr sz="3375" b="1">
                <a:solidFill>
                  <a:srgbClr val="8B5CF6"/>
                </a:solidFill>
              </a:rPr>
              <a:t>产品与技术深度介绍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DC866-E39F-4273-9620-A2D4AA56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从业务价值、功能体系、技术架构到工程保障，完整呈现项目能力与可持续演进路径。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43624-B3A3-40EB-9049-0C024A5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467E8-5E0D-41A6-A0C7-17C45FD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Kotlin · Jetpack Compose · Room · MVVM · WorkManager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A1696-0B3A-47D0-993E-1321CCBA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2971800" cy="4095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9D344-E8FE-4D12-92BD-32E0715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33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本次重点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CA0E8-A22C-4449-91C8-7C1DEC95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产品定位与用户价值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功能模块与使用闭环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AI 与自动化能力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数据安全与备份韧性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架构设计与工程质量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后续路线图</a:t>
            </a:r>
          </a:p>
        </p:txBody>
      </p:sp>
    </p:spTree>
    <p:extLst>
      <p:ext uri="{BB962C8B-B14F-4D97-AF65-F5344CB8AC3E}">
        <p14:creationId xmlns:p14="http://schemas.microsoft.com/office/powerpoint/2010/main" val="1030684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E0C35-DD8D-44C7-9195-7B1AD16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CBEAD-DB1D-4A2B-A4C1-04F50294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8024B-2052-4B0F-85B5-E8582633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0404-F916-47AE-84DE-D65C4A2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616E9-B73D-4452-8988-F09E8D4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EC3BB-2647-4321-B663-5254FEC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ED1AA-173F-4F31-967A-6A031D2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演示目录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17E1-D115-4727-BFF7-1A280286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按照“价值 → 能力 → 实现 → 规划”四条主线展开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58FD7-86D7-4F7C-A8F3-A24F231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2A8EB-486C-4DB3-9647-32CF2B8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FBEF5-28EC-4757-ADF3-D6499D6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01 产品背景与目标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453DB-9D0B-4782-A022-A612F4A0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722B7-89AC-4D26-86FB-257DB05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02 用户痛点与价值主张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A8ABE-864F-4FCA-8BBD-9239E5CA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9813B-3CBB-4502-9C17-50999B5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03 功能能力地图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4D92B-6968-4F25-A459-BC6701EE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FF2EC-5481-45E7-AC49-B908CB53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04 核心功能深挖（记账/统计/AI/备份/安全）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249B1-DA4D-4B4F-95E8-4D7C2632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81B92-8DD5-4644-9B1C-CBF06F1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05 关键交互闭环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7D388-EDB5-4E9E-9207-CFF88FA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6EDAB-8FDC-403A-89C8-8806B7E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06 技术架构与数据模型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2B9FA-B745-4076-95F4-EBB2DB7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CF584-7232-436A-B61F-279CDE0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07 工程能力与稳定性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75589-92DE-4176-8ED6-055478BA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A9945-A48C-4D99-825C-3F3D00D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149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08 路线图与总结</a:t>
            </a:r>
          </a:p>
        </p:txBody>
      </p:sp>
    </p:spTree>
    <p:extLst>
      <p:ext uri="{BB962C8B-B14F-4D97-AF65-F5344CB8AC3E}">
        <p14:creationId xmlns:p14="http://schemas.microsoft.com/office/powerpoint/2010/main" val="1673332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B3A9D-67B3-4169-8130-1540D5B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C21BC-B250-49DC-85D9-9ECE0ADD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D529A-1A32-46ED-B202-0FBF75BF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97353-EA0D-4293-8104-B85A4FA3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项目背景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D06A2-A183-4ACD-B19D-D6BC78F5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6595C-51CB-4696-A269-1D11C81E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539E1-E765-4A6B-965B-5E590AFC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项目背景与产品目标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48AA-79E0-42EA-BC7E-7671B378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以“本地优先 + 智能辅助”为核心，降低个人财务管理门槛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F06CD-9368-48A2-A9E4-B258B938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BD81F-8132-4A1C-AA39-8D728C0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48956-F0B5-47E1-9CF0-0CD31B0F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背景动因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40F7A-61FA-4859-909A-E00425F3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05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用户有记账需求，但常见产品存在学习成本高、长期坚持难、数据控制弱等问题。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11EAF-54A8-400C-A3CC-02E1964C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EE6F3-0AE6-42C2-B7BC-E3E043B0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76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AE508-3DE4-4A98-BE20-5CABEA1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产品目标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7990B-B7AD-4ED4-9709-510B8597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3105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把日常“记录-分析-行动”串成闭环，让用户既能快速记账，也能从数据中得到可执行决策。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8FF0D-F0CA-4A4A-819E-8640CAA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0C9F7-C7BE-4B1F-87F3-2453FCD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76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EB09F-C54D-4184-A779-928E042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622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定位策略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B0FDD-0344-4BF9-AFE2-B5A091A0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3105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以 Android 本地记账为基础盘，叠加预算、统计、AI 分析、备份与安全能力，形成完整产品面。</a:t>
            </a:r>
          </a:p>
        </p:txBody>
      </p:sp>
    </p:spTree>
    <p:extLst>
      <p:ext uri="{BB962C8B-B14F-4D97-AF65-F5344CB8AC3E}">
        <p14:creationId xmlns:p14="http://schemas.microsoft.com/office/powerpoint/2010/main" val="1765635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BCD85-45AC-41A5-9F86-3349107D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266F8-74E6-4C69-AC9A-B6D2873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0D73-37FE-4916-B7B1-19D0110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E8E8C-3FF2-4DBB-B85C-997ED874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用户价值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615DE-BB08-423A-A67F-25D889B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C6B83-34FA-4393-BEE2-7B852EF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68C60-E7C5-4E89-B82D-CD3C92E5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用户痛点与价值主张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48D59-F184-479C-82AA-F3F57F5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每个痛点对应明确产品能力，避免“功能堆叠但无价值”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C4A78-3FE0-4740-B687-DAE18B3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A28CD-5AC7-4784-869E-C51BB69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痛点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E696A-9A60-461E-8198-9EDF521A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289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价值主张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C9352-A37A-454F-8C2A-1458A04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落地能力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BD913-07F5-42B3-A9A8-680DAE1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05F2F-10F7-49E9-B444-C55221A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记录效率低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B787D-30B3-4B25-A5DB-F71C86C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623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缩短录入路径，降低心智负担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DA9C2-9D03-4D64-9479-6A862A02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分类快捷录入、批量操作、自然语言记账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26506-F388-4FC2-8BBF-CE584F62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A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81E85-15EF-4C6E-AB73-A77ECB2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复盘难度高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64367-2972-4105-8666-E2F23A4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671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把流水变成可解释的结构化信息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41851-47E2-447E-8149-F515786A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671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趋势图、饼图、月历、周/月/年统计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CFC3A-3522-436E-AE50-E16F8E78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A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0813B-5152-4AAB-B92A-9FCC0EC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数据安全焦虑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B5C8F-1681-47E4-BD79-600019E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720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提供本地可控与云端可恢复双保障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A0B3B-C429-4EF5-A992-F987908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Room 本地库、WebDAV 备份、CSV 导出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1FDBD-27EE-4569-BDDD-4C06B1E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A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522AF-E834-41CD-854D-27D06AD6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执行缺乏方向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155FE-6ED8-4460-AC6B-B2C5D3F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768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从“看到问题”升级到“给出建议”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E8EB6-D88A-4997-AB2A-7A002B7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768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AI 健康评分、风险提示、行动清单</a:t>
            </a:r>
          </a:p>
        </p:txBody>
      </p:sp>
    </p:spTree>
    <p:extLst>
      <p:ext uri="{BB962C8B-B14F-4D97-AF65-F5344CB8AC3E}">
        <p14:creationId xmlns:p14="http://schemas.microsoft.com/office/powerpoint/2010/main" val="1885311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0A338-91F3-4CCE-9D14-07254C6B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B3523-449E-4863-AE17-BB7043BF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5C2DF-D5BD-441C-85B0-E9C9167A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118A5-3C46-4CA7-ACEA-268C125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能力全景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CA50-B106-4BF7-80CE-79A0C10F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4F2E2-0C77-48AF-B3B4-3BD2F2F6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16D5F-A13B-45C4-8C1D-F841686F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产品能力地图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663C1-98C1-4279-8791-C864C487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覆盖记账主链路、数据保障和智能分析三大维度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45C20-3605-4438-A0B0-3BB75E2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C2D7B-15B9-469E-9018-17B4B4A0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9703F-977F-46C9-A692-0DACACD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收支管理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F5CF9-EDD8-4ABB-A409-A7E40CC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收入/支出双类型、23+分类、自定义分类、按日分组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FCE7B-9FC3-43B2-BDE8-8C6A4C83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FD006-56BD-40A3-A8B5-FC4A748A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60FB4-2DDE-4FE5-92B8-7E5F906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批量与筛选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FB206-4966-45E1-812C-AC41971C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多选删除、批量改分类、关键词搜索、日期范围过滤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7C285-FC5A-42D3-AB13-655B725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BDD54-2233-4EBE-AC19-DDFD79FB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86E8C-7CAC-482F-B02A-D9C1347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预算控制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20281-EBF9-4682-A4CA-091C38A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月预算设置、进度提示、超支感知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286FD-92E1-4108-835E-D007AA8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39585-EB34-4CC3-9A5F-7574C01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46BDE-B662-44C1-88AB-E88E448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统计可视化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79F39-7DD7-4CB2-80C2-FC19540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趋势折线、分类占比、月历总览、横屏详情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22D81-1E75-4FA3-B1FB-DF73FFD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774320-6E1D-4C63-A80A-FBD199D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5DD52-3550-41DB-9659-EA616AA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资产管理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82E47-2B48-483E-B36B-2476C933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资产/负债/借出三类型、余额联动更新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90EDA-4E3A-4552-A441-A7BFAEC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E4EC2-19FD-4041-A543-2ECEA58D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CDD817-31FB-4230-BF1E-7FB00B22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AI 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AF08C4-0F84-41E8-9CFC-F037557C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健康评分、异常识别、行为洞察、行动建议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47193-D933-46E6-BD33-11552AB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C8161F-CFD7-4820-A5F7-66FACA6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2E359-1F98-4254-9A2C-2FC2014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386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备份同步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0BC603-C050-449F-86A7-5B27A3B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WebDAV 上传下载、CSV 导入导出、定时备份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B2CBC4-87E3-49EB-A173-FF780D0C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867183-6572-4272-AE5B-98C08467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A16361-A3D2-4E53-83A3-9220A79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隐私安全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CDCE7A-EF7F-49BF-BD2D-7EEC2094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PIN + 生物识别、应用锁、失败冷却机制</a:t>
            </a:r>
          </a:p>
        </p:txBody>
      </p:sp>
    </p:spTree>
    <p:extLst>
      <p:ext uri="{BB962C8B-B14F-4D97-AF65-F5344CB8AC3E}">
        <p14:creationId xmlns:p14="http://schemas.microsoft.com/office/powerpoint/2010/main" val="1632333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6B408-8FE5-41D1-8EF7-B3D3E49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FCB47-FD77-44FD-B739-896F727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9FFA4-1EA4-4A43-A773-AA7976F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B361A-4501-4FF7-9523-F828629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业务核心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301EF-1DF3-4354-B62D-723FFA5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06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42CFE-33EF-4A03-8E0D-0F47470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83487-2994-4072-ACCF-A740AAE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收支管理与资产联动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08B27-3902-457A-83D4-EA2C1CF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“每一笔记录”与“资产余额”自动关联，减少手工对账成本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8EC5-7958-47C2-94B1-FD0CB948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CCEBE-6C7B-4615-9FC7-48A6C7B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949B6-C304-4904-A27D-79541CBF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记录能力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40295-C35F-42CA-8F15-815CB7E0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143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支持收入/支出切换、分类与备注录入、日期选择、批量处理。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首页按天分组，单日收支总额实时汇总。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81345-95A5-48FA-9E26-3D04EBC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9448C-B2B3-4911-B026-51F5EFC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48791-933B-4DCC-9221-CA5DD8E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资产联动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F0C97-A6D3-4A90-A6F3-77691F0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3143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支持资产/负债/借出三种账户类型。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记账时可关联账户，金额自动同步到账户余额。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46F65-F613-4E68-BA52-439AEA0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A09A8-262E-4262-BC56-59E69951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5AB0B-FAE8-428C-B465-7D2CDFE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状态管理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4E412-8F21-4B58-B7EA-A4EEEBF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43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ExpenseViewModel 聚合列表、筛选、预算、主题、安全等状态，统一驱动 UI。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D8C8A-C597-475C-81B9-38C3292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476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54779-A021-4E17-81FF-8DC3562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443E3-496D-47C7-8F0E-AEC934A8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23+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92367-5F28-43B2-8FD9-D2B8BB58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67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内置分类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0461B-26FE-4622-B2BF-7093E62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支持用户自定义扩展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6C464-F478-46BD-BAD6-52F80712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2476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FB81B-9649-4CD9-8A05-245212E5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EF920-86E6-45F6-9EEF-DD52FE9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483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4BDFF-B816-4BD4-B68F-2407D70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67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收支类型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09557-D99C-45DE-9528-F7AC5DA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5151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收入/支出一键切换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2F453B-EA43-433E-A2ED-60BDA4B4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15000"/>
            <a:ext cx="2476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140C3C-8E37-4CF1-8CFC-55224BE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15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EB7301-A09F-4600-A545-89DF077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483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FA9AC-484C-44AA-BA19-E622E68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267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资产类型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84F8DA-D545-4B19-AB2A-4A3EBEA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151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资产/负债/借出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77DDF-90F6-493B-B55A-A5FE5BF0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15000"/>
            <a:ext cx="2876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2ECCB2-44CE-47E9-81E0-58AD1A9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15000"/>
            <a:ext cx="2876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EDCD39-9060-4318-9605-AC3E0CE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48350"/>
            <a:ext cx="2647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100%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4FA32A-8F44-4AC4-A88B-E150571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267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按日聚合展示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D092C-69CE-44C8-B967-C01C437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51510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快速回溯当天流水</a:t>
            </a:r>
          </a:p>
        </p:txBody>
      </p:sp>
    </p:spTree>
    <p:extLst>
      <p:ext uri="{BB962C8B-B14F-4D97-AF65-F5344CB8AC3E}">
        <p14:creationId xmlns:p14="http://schemas.microsoft.com/office/powerpoint/2010/main" val="1878515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B5888-A458-4382-8F14-EBF6F51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DC8D-77ED-4AC4-8B0C-A41B88A6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F1D1D-6111-4F96-A5D1-448B13FE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C6E7-AEAA-4BFA-90A4-7699ACBA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统计分析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EF3AE-0246-4AC0-B065-25C830F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07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6A205-2DC5-42A5-88DB-C1CE514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AB72-5DF3-4390-9908-8F30F81E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统计分析与预算控制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09D2E-0120-4988-A211-541EB4C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从流水记录升级到财务洞察，帮助用户做出更稳健的消费决策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A970A-666C-4D85-ABDC-F94FFCD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914400" y="2724150"/>
          <a:ext xmlns:a="http://schemas.openxmlformats.org/drawingml/2006/main" cx="6762750" cy="2495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0bb4509d6f454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217FC-1F5A-41FD-9340-30FA6F40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371850" cy="34290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23DA3-D7FB-45B7-8D60-98FAE685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0CE9D-CD86-45BB-A9DA-D55BEFA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05075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关键收益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DF7B7-916E-4CA8-9698-4DB35C6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3048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预算进度可视化，超支风险可提前感知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周/月/年切换，适配短期与长期复盘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趋势图 + 分类占比，定位异常消费更直观</a:t>
            </a:r>
          </a:p>
        </p:txBody>
      </p:sp>
    </p:spTree>
    <p:extLst>
      <p:ext uri="{BB962C8B-B14F-4D97-AF65-F5344CB8AC3E}">
        <p14:creationId xmlns:p14="http://schemas.microsoft.com/office/powerpoint/2010/main" val="630313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0B7D6-F15F-4B26-A6A4-566BB897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3C2AC-ED18-4185-9FA5-73F814A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25ED9-18F6-4AD8-8D18-CD45646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F0097-A3FE-4A81-9675-6695ECE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智能能力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BA813-DA4A-45EF-9582-F15C432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08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5929F-7D80-4F6F-B68F-AC8B25C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84F98-3D7D-468D-8D40-DE4CE7DC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AI 分析与自然语言记账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05BB8-21DD-46D5-A835-165C067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支持 OpenAI 兼容 API，兼顾“深度洞察”与“快速录入”两类场景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D4BCF-5030-41A8-8C90-14255E3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5CC54-A281-4113-AAD2-2A3F37CF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AI 分析链路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AAB1E-264F-44DC-BD93-ABDAB5E5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 选择时间范围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2. 汇总 period / months / categories / assets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3. 调用兼容 API 生成结构化解读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4. 输出健康评分、风险提示、行动建议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5. 分析结果持久化保存并可回顾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E3E8E-BFFE-462D-AA34-4EFED15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81E6C-3999-449B-A373-D9540A9A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自然语言记账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34A72-1742-471A-8E3F-08F94F7C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用户输入一句自然语言后，解析器输出严格 JSON items 列表，支持多笔拆分、字段容错与资产名关联。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AD152-294B-40CF-A92E-87B0E87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BBEF2-85E9-4EC6-96EE-A6CE80D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</a:defRPr>
            </a:pPr>
            <a:r>
              <a:rPr sz="1500" b="1">
                <a:solidFill>
                  <a:srgbClr val="14B8A6"/>
                </a:solidFill>
              </a:rPr>
              <a:t>接口稳健性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E9E4D-80B2-45BD-A6D7-2D64FF2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AiApiClient 统一处理 baseUrl 规范化、模型列表拉取、超时设置（60/120/60s）、错误消息解析与模型优先级排序。</a:t>
            </a:r>
          </a:p>
        </p:txBody>
      </p:sp>
    </p:spTree>
    <p:extLst>
      <p:ext uri="{BB962C8B-B14F-4D97-AF65-F5344CB8AC3E}">
        <p14:creationId xmlns:p14="http://schemas.microsoft.com/office/powerpoint/2010/main" val="811874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BE6D-DCB8-405F-913F-95DDE33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98431-8E84-4117-A394-249CD28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58306-358F-46B7-885F-BEC3675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0463E-BDC3-4579-A653-3D8862D8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数据韧性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2170-D8FA-464B-BBA5-23BADBE2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09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5E89-5C9B-48C3-B683-CF4254CE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420CC-56C4-4535-8A27-8FEEE0F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备份恢复与同步机制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28D0C-5678-4B37-92BA-6D815B8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本地导出 + 云端备份 + 自动清理，保证“可恢复、可持续、可运维”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24E9D-5048-4D30-B01A-6E06951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77969-9430-4941-82A0-672FD704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5BAB0-9A27-44EC-8FC1-771FCE5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WebDAV 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EC714-1AC2-42CC-A8B3-124FCC3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105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支持连接测试、文件列表拉取、上传/下载/删除。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支持自定义服务地址和目录路径。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5CB0F-EF78-462E-9A1F-7BA5EFF5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3C727-1877-44D9-AFAA-B1FA042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56F59-105D-4686-A4E8-E15A6CCC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本地能力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46B23-E437-45B6-B24E-ABB55C8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3105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支持 CSV 导出与导入。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导出使用 UTF-8 BOM，兼容 Excel 直接打开。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28C16-6A07-494A-A22B-FFC0DF09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5052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D525B-E960-488A-8E82-2297D32F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9D97C-4EAD-44DC-851C-8D77E5A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自动化机制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ABF4F-0092-4990-BAD3-92E25FE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1813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WorkManager 定时备份（1-72h）。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自动备份支持防抖与互斥锁，并保留最新 3 份 auto_backup。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6B532-1769-4854-B5A6-8D9192E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390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70D0B-B4FD-42ED-98CC-B2016934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863F9-088D-47CC-8AE4-9558CE8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1-72h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43660-CE49-456F-898F-716D2788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674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可配置备份周期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F2E35-6B0C-4C22-B299-B152B97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PeriodicWorkRequestBuilder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212F4-1836-4205-99FC-FAC5145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15000"/>
            <a:ext cx="3390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95685-9794-4BFD-AC77-669224A2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150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AC3B7-D143-4B77-8EDA-980C75ED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4835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3 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6292A-E84B-4828-B992-EB2C9E9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674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自动备份保留策略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F0C685-1F85-46B7-80E2-19981AB7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5151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旧文件自动删除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36EAD-CCB5-4E44-AA29-746B922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0"/>
            <a:ext cx="3505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D98BF-3F01-46BD-8A54-7BF4D64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4D523-7669-4959-ABD0-0DE8632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48350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B2E"/>
                </a:solidFill>
              </a:defRPr>
            </a:pPr>
            <a:r>
              <a:rPr sz="2550" b="1">
                <a:solidFill>
                  <a:srgbClr val="1C1B2E"/>
                </a:solidFill>
              </a:rPr>
              <a:t>双路径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80E6D-92A5-4A7E-B5E5-554444D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26745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本地+云端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AF376-C2F9-4EE3-A934-C7BEDD94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515100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8"/>
                </a:solidFill>
              </a:defRPr>
            </a:pPr>
            <a:r>
              <a:rPr sz="900" b="0">
                <a:solidFill>
                  <a:srgbClr val="7A8798"/>
                </a:solidFill>
              </a:rPr>
              <a:t>降低单点故障风险</a:t>
            </a:r>
          </a:p>
        </p:txBody>
      </p:sp>
    </p:spTree>
    <p:extLst>
      <p:ext uri="{BB962C8B-B14F-4D97-AF65-F5344CB8AC3E}">
        <p14:creationId xmlns:p14="http://schemas.microsoft.com/office/powerpoint/2010/main" val="466036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E4A66-B78D-4351-AB08-8C62961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98B2F-45FC-4A61-A014-72AF41D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C7E45-080B-4771-836D-91B6CDE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36D9-21AC-4529-B6F8-9C484841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安全与隐私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C77BB-5699-452C-B367-4F776F3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10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B2843-8229-4781-A692-ADE7008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73B62-24CD-48B7-9F3F-6831629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隐私安全与访问控制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35434-D29A-412A-83B7-148F1D9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围绕“数据保护 + 身份校验 + 风险缓释”构建信任底座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97892-72E7-497F-8284-AB1DA601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204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8A56A-1C50-484A-8EC2-FD0A54A4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安全模块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26762-76CB-4EBF-AF0D-419F974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实现细节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308F-0420-44C0-A385-F92087F3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C000-6F8C-4F54-B078-6300D70D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3276E-A43B-425C-A44F-A1C7959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1B2E"/>
                </a:solidFill>
              </a:defRPr>
            </a:pPr>
            <a:r>
              <a:rPr sz="1275" b="1">
                <a:solidFill>
                  <a:srgbClr val="1C1B2E"/>
                </a:solidFill>
              </a:rPr>
              <a:t>PIN 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821D0-6BBE-4543-BC8D-6C61959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PinManager 使用 16 字节随机盐 + SHA-256 哈希，不保存明文 PIN。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287CA-6C56-4616-A8EA-0A7FF342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降低本地凭据泄露风险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EB6EB-03F7-4E87-927D-616A29B3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063E-DF2C-4EA6-9598-254F566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1B2E"/>
                </a:solidFill>
              </a:defRPr>
            </a:pPr>
            <a:r>
              <a:rPr sz="1275" b="1">
                <a:solidFill>
                  <a:srgbClr val="1C1B2E"/>
                </a:solidFill>
              </a:rPr>
              <a:t>生物识别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A1101-0F64-4588-B81F-A1E0B2F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67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BiometricHelper 封装系统认证能力，支持指纹/面部（设备支持前提）。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61D8F-FAF6-4236-AE9F-D7EC02D7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提升解锁便捷性与安全性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94797-1906-4E3D-887A-4D6F80D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555CF-8086-4F6C-9FCB-399CBB5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1B2E"/>
                </a:solidFill>
              </a:defRPr>
            </a:pPr>
            <a:r>
              <a:rPr sz="1275" b="1">
                <a:solidFill>
                  <a:srgbClr val="1C1B2E"/>
                </a:solidFill>
              </a:rPr>
              <a:t>应用锁状态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69ADC-9E90-405B-AF0A-CE4E804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958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AppLockManager 管理开关状态、验证流程与冷却策略。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4AB7F-AA06-4006-B1B7-B5CE4703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95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防止未授权访问账本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62106-8282-4333-BCAA-61C870A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0A2621-F024-4086-8276-AC0EF5BE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1B2E"/>
                </a:solidFill>
              </a:defRPr>
            </a:pPr>
            <a:r>
              <a:rPr sz="1275" b="1">
                <a:solidFill>
                  <a:srgbClr val="1C1B2E"/>
                </a:solidFill>
              </a:rPr>
              <a:t>配置隔离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B49B0-A6E7-4F61-8598-3C58EA96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244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安全配置与主题/备份配置分层存储，避免耦合。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5F3B8C-5652-4ED3-A244-CD7EF8A0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24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提高可维护性与可审计性</a:t>
            </a:r>
          </a:p>
        </p:txBody>
      </p:sp>
    </p:spTree>
    <p:extLst>
      <p:ext uri="{BB962C8B-B14F-4D97-AF65-F5344CB8AC3E}">
        <p14:creationId xmlns:p14="http://schemas.microsoft.com/office/powerpoint/2010/main" val="567120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173F6-2496-46D0-BA7E-9669AFF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99F28-1AFD-4C86-8FC2-9D516D1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A5AD7-850B-4AAF-82C7-CBAE2B67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D12F-1283-4888-B490-DEE9630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业务闭环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3D99-540A-4C0E-B1B3-4E7C188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11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65073-E28C-4778-A16D-BE53D24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49F9A-82DD-4CF7-92B1-DC5542F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关键交互闭环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28C2-1887-4DDB-8399-4186D0E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从“记一笔”到“调策略”，构建可持续的个人财务管理循环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5025C-ADC3-4892-B256-31AB1A3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101E2-2595-44CA-8C10-9EE9C44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43C4E-A344-4543-940B-1D7122D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A482A-AFED-4CBF-AA98-F8BF162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61003-B1E0-4841-A60F-D9A616DC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输入金额/分类/备注，关联资产账户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6D534-2954-4C0F-BAD7-E95DD6F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910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938EB-37E9-4B6B-B659-3522570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A6915-D49C-4014-8A4D-29F8F69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69822-3EEB-4EB6-973A-A21706D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05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1BBCA-CE94-4010-A1D6-C51E9F1E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归集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4BD23-35DE-4E9D-9BDC-053CD23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按日与按类自动汇总，形成结构化账单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8E0AE-69D1-4088-B3D0-76A2EB28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910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79863-868E-4AC3-92F0-7E5F3586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A30E5-35B1-46AB-AC07-FFA551E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0ACDE-D361-4D28-97A1-FC2FAF3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05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913E4-E711-4A87-A20E-8FD1A870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监控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3A758-A2EF-49A6-AB4F-B50D902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预算进度与异常波动实时可见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903F9-24C1-4A64-81A9-CF059126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933AC-DB89-439D-B2F8-8492E0C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AF10C8-20CA-4963-9140-0863EDC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C1E53-0DDA-4849-B16B-28993A8B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05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E49E60-9D26-4237-A8F4-423F62C9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D8B61-ECFC-4656-B32D-70130FE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趋势图与类别占比帮助定位问题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E96DA-1413-4E43-B3E4-6D2E82A8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910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BC7D19-7753-42AF-BE51-583F00A1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29000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1694E-570E-4EAE-A471-9D18D877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EAFB4-83C4-4E8E-9AC8-BE771199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052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7ACAB-E9B1-4167-938B-7B84F6A6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38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B2E"/>
                </a:solidFill>
              </a:defRPr>
            </a:pPr>
            <a:r>
              <a:rPr sz="1800" b="1">
                <a:solidFill>
                  <a:srgbClr val="1C1B2E"/>
                </a:solidFill>
              </a:rPr>
              <a:t>行动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0C57F9-8F0D-4647-AB53-14D1779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AI 生成建议并形成后续执行清单</a:t>
            </a:r>
          </a:p>
        </p:txBody>
      </p:sp>
    </p:spTree>
    <p:extLst>
      <p:ext uri="{BB962C8B-B14F-4D97-AF65-F5344CB8AC3E}">
        <p14:creationId xmlns:p14="http://schemas.microsoft.com/office/powerpoint/2010/main" val="2072945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5712E-2981-4A86-98BB-E0458E0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4FD7E-9977-4848-80FB-D483E47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C630-FD7A-4C18-8ED9-5819683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2420-AAE7-4E5C-A4AE-D5BFB66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技术架构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13BD2-8A44-4AA9-8DA2-7C9065C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53FE7-03B6-4E37-8755-B95EA27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88877-BB9F-4E47-AC37-4511FB8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技术架构分层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72D5-12D9-4F82-B1E3-5C9844D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MVVM + Repository + Room + Compose，形成清晰的数据与状态流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7C617-4167-4E8F-95ED-F1DA776F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F2496-440A-45D9-8FD8-2EE9396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F191-8D5C-444D-928B-A1FC6C3D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1B2E"/>
                </a:solidFill>
              </a:defRPr>
            </a:pPr>
            <a:r>
              <a:rPr sz="1725" b="1">
                <a:solidFill>
                  <a:srgbClr val="1C1B2E"/>
                </a:solidFill>
              </a:rPr>
              <a:t>表现层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8E008-9989-46F9-8F65-0C57B10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874EC-495E-4C0D-81D8-BA94987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Compose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871E-AAC1-4EA7-8155-7D05403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77C18-D2F0-43CA-AE46-46FF9A8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组件化表单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6F6DE-2251-4244-9E8F-C86A01E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8245C-BAB7-4537-800F-407679D5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统计图与小组件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0E603-13EC-4B8F-908E-6C8B0E8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07ACD-B572-4A40-B257-FC0E2C4D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625A3-5D96-4665-A22F-8CB66838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1B2E"/>
                </a:solidFill>
              </a:defRPr>
            </a:pPr>
            <a:r>
              <a:rPr sz="1725" b="1">
                <a:solidFill>
                  <a:srgbClr val="1C1B2E"/>
                </a:solidFill>
              </a:rPr>
              <a:t>状态与业务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8446E-0F92-4B6A-991C-DAAECAA1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9394A-A995-4A1B-821C-EE0F5D7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ExpenseViewModel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EEBF4-E288-42C4-8435-335591B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34F40-C431-4A27-9ECB-C3CBAA8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243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StateFlow 聚合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4A0F4-7574-427E-8551-84D00AA8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C5861-6599-4B54-A611-7854E37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053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过滤/预算/AI 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749A8-5CBD-4BF6-96D0-4C033E2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C8FFB-25A9-4EB4-ABA4-F6AD21B2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BF828-715C-4F9B-B600-50CA9A0D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1B2E"/>
                </a:solidFill>
              </a:defRPr>
            </a:pPr>
            <a:r>
              <a:rPr sz="1725" b="1">
                <a:solidFill>
                  <a:srgbClr val="1C1B2E"/>
                </a:solidFill>
              </a:rPr>
              <a:t>数据与基础设施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7777F-DD16-4571-935C-10A080AF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4D2D9-8678-4F0C-8691-D2B8E9CF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Repository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9B2FB-EA81-4A4F-BD52-FE6CBDB1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AE899-1AE0-4A59-AF78-9E8BA3A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Room/DAO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6E8B7-0A44-4586-9FB6-110183A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0ADB68-DAD0-4DCE-8D07-82CA571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WebDAV/AI/WorkManager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01FDE-A5AB-4F8F-B235-1CF81AE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576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3EEE73-126D-40FF-B9F5-AD66900D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5806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7CF78-B041-40BA-9A60-86A16B2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EB8B2-708B-4F0F-B847-AD2F3A2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BE5FB-3E83-4889-B8F9-4BF878E0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C3310-7E37-41B4-9750-8F213E0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数据模型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C1B5E-AC2B-4083-8929-F803538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B203D-9FC4-4350-96AC-D31EAF2E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FE234-2D7C-4508-BF0C-06D36536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数据库模型与演进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3589E-3E8E-4B6D-BC94-923C3FFB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Room v6 + 5 次迁移，保证历史数据平滑升级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8C6B2-4AC8-4467-8F45-E5C4EAB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53344-26FA-4D39-94AD-F4F863F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BD5A8-FB09-4345-BFC4-780D0453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v1→v2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00DC4-D269-43D0-A390-9008B88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expenses 增加 category 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E79C1-A940-473E-8338-4B21F3D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AEA0B-D019-4D80-B388-A8473F30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v2→v3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6C483-2678-444B-B2D5-F907C144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956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expenses 增加 type（收入/支出）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C6248-08F1-48CC-8ED4-E5286F9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FD742-A3B3-4FC9-B0EC-21F1872D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v3→v4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810A3-8CB0-4652-A452-96CE8DA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新增 assets 表支持资产管理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F8F4E-1110-40A3-A847-85EDACCD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6A099-4FF9-4E2A-947D-C81C539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v4→v5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77E1C-D865-4719-87A8-C927AD7D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148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expenses 增加 assetId 关联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7F558-1E74-4A15-A17B-1A859CE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D6B65-9502-46CA-B68C-D3E70C9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2E"/>
                </a:solidFill>
              </a:defRPr>
            </a:pPr>
            <a:r>
              <a:rPr sz="1350" b="1">
                <a:solidFill>
                  <a:srgbClr val="1C1B2E"/>
                </a:solidFill>
              </a:rPr>
              <a:t>v5→v6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61AA1-07B5-4FCE-A9EB-F51230F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新增 ai_analyses 表持久化分析记录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5A70E-8C59-4973-B46A-ECD2F86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07B4FC-4B1A-44ED-9B3B-7E6EA003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1B2E"/>
                </a:solidFill>
              </a:defRPr>
            </a:pPr>
            <a:r>
              <a:rPr sz="1125" b="1">
                <a:solidFill>
                  <a:srgbClr val="1C1B2E"/>
                </a:solidFill>
              </a:rPr>
              <a:t>核心实体：ExpenseEntity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BC220-7960-42BE-BBB5-3FDAF1BA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8170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3B004-B72A-468F-9254-3CC356D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912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1B2E"/>
                </a:solidFill>
              </a:defRPr>
            </a:pPr>
            <a:r>
              <a:rPr sz="1125" b="1">
                <a:solidFill>
                  <a:srgbClr val="1C1B2E"/>
                </a:solidFill>
              </a:rPr>
              <a:t>核心实体：AssetEntity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34ACB-058A-42AB-8C20-44C749CC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8170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2B08A-3F5E-401D-A95A-0B026F9E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1912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1B2E"/>
                </a:solidFill>
              </a:defRPr>
            </a:pPr>
            <a:r>
              <a:rPr sz="1125" b="1">
                <a:solidFill>
                  <a:srgbClr val="1C1B2E"/>
                </a:solidFill>
              </a:rPr>
              <a:t>核心实体：AiAnalysisEntity</a:t>
            </a:r>
          </a:p>
        </p:txBody>
      </p:sp>
    </p:spTree>
    <p:extLst>
      <p:ext uri="{BB962C8B-B14F-4D97-AF65-F5344CB8AC3E}">
        <p14:creationId xmlns:p14="http://schemas.microsoft.com/office/powerpoint/2010/main" val="5571002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BDD0-56FC-478A-834A-5E72F38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A6D1-F50A-4D8A-9D59-92E9B01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00AC3-2E5E-450E-ADAC-5A97025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5BD0B-D486-49DD-8F28-B0EFE61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工程质量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5726B-B501-4167-A6D2-34E30986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427E3-00F0-458C-90C4-04044B7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8700E-9E56-4D8E-99B3-064D603A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工程能力与质量保障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5BB07-D0D1-4107-BF77-5C31A9FB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技术栈完整、模块职责清晰，支撑持续迭代和规模扩展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4FBC9-1D74-4968-874C-8416F288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477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5B903-79D3-4149-BA1A-5ABEA72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关键依赖（摘选）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18F5E-98B2-4AB2-B28A-980399F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609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Kotlin 2.0.21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Compose BOM 2024.12.01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Room 2.6.1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Lifecycle 2.8.7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WorkManager 2.10.0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OkHttp 4.12.0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AndroidX Biometric 1.1.0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Jetpack Glance 1.1.1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33063-D490-4448-B541-986765F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4114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15250" y="2857500"/>
          <a:ext xmlns:a="http://schemas.openxmlformats.org/drawingml/2006/main" cx="3429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29fe76d35a48ff"/>
          </a:graphicData>
        </a:graphic>
      </p:graphicFrame>
    </p:spTree>
    <p:extLst>
      <p:ext uri="{BB962C8B-B14F-4D97-AF65-F5344CB8AC3E}">
        <p14:creationId xmlns:p14="http://schemas.microsoft.com/office/powerpoint/2010/main" val="1144906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E0C2E-E4E1-4D2A-94B5-133AFCCCAB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CCE2F-91B6-465D-BE84-E9C2151A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-1428750"/>
            <a:ext cx="5334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063D0-AF5C-472E-AE87-061B6B8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52400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7FD6-9B35-49C2-95A7-7CDB4501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10125"/>
            <a:ext cx="4762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C141E-5351-4E45-927B-B421D424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路线图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453D5-1AF7-447E-9AB4-7E4CBEF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15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D9E3C-C2B9-4FD7-98AE-54D62E3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D5E09-09D5-4D4E-B0AB-1F0114E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2E"/>
                </a:solidFill>
              </a:defRPr>
            </a:pPr>
            <a:r>
              <a:rPr sz="3600" b="1">
                <a:solidFill>
                  <a:srgbClr val="1C1B2E"/>
                </a:solidFill>
              </a:rPr>
              <a:t>路线图与总结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AB6EC-0D98-4CE0-AC9B-30A1AD0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以稳定能力为底座，持续提升智能化、自动化与跨生态协同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2182F-83C0-4811-98AB-2AB8CFDD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5161F-728B-479C-AE1A-5395B3FE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00300" cy="2667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2FCA2-CD69-4664-AE27-7337C9AA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FDA27-402A-48B8-9720-B81AC62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98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A92AA-7EBA-4524-A44C-473B60B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076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体验优化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优化记账路径、筛选效率与可视化细节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4654B-7DBC-4BD5-8A13-3F4191F0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400300" cy="2667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0549C-A46A-4740-89E9-10CA324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800B5-335E-4A30-A786-57EC06E8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98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E042C-6B7E-498C-9D92-80094D6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62300"/>
            <a:ext cx="2076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智能增强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提升 AI 分析准确性与解释可读性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53942-0DAE-4CB0-B13B-0E75BF7D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400300" cy="2667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BD400-2E12-4486-97CE-607FE35B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1C6C6-B2C6-4B21-BCAB-A60846C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98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A27F7-9F47-404B-B7B0-B2E32A4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2076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生态协同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增强与外部账单来源的同步能力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6642D-B503-457D-A8DA-5DCA64B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2400300" cy="2667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86C8B-13E0-4A5E-AF67-DBBDE54C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6BB37-D1C0-43DF-8FC5-C51D3A6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98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B2E"/>
                </a:solidFill>
              </a:defRPr>
            </a:pPr>
            <a:r>
              <a:rPr sz="1500" b="1">
                <a:solidFill>
                  <a:srgbClr val="1C1B2E"/>
                </a:solidFill>
              </a:rPr>
              <a:t>Q1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2AA41-0078-4590-B326-5C9E1A3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076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平台扩展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探索多端协同与更强数据洞察能力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0B993-2808-45C3-BA8B-9077026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ADD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CF5B07-BA42-4BB5-98F7-7F6868C9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1B2E"/>
                </a:solidFill>
              </a:defRPr>
            </a:pPr>
            <a:r>
              <a:rPr sz="1500" b="0">
                <a:solidFill>
                  <a:srgbClr val="1C1B2E"/>
                </a:solidFill>
              </a:rPr>
              <a:t>总结：MD3 Expense Tracker 已具备“记账基础能力 + 数据洞察能力 + 安全备份能力 + 智能分析能力”的完整闭环，具备持续演进为个人财务助手的产品基础。</a:t>
            </a:r>
          </a:p>
        </p:txBody>
      </p:sp>
    </p:spTree>
    <p:extLst>
      <p:ext uri="{BB962C8B-B14F-4D97-AF65-F5344CB8AC3E}">
        <p14:creationId xmlns:p14="http://schemas.microsoft.com/office/powerpoint/2010/main" val="2139173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2026-04-25T10:41:02.8700000Z</dcterms:created>
  <dcterms:modified xsi:type="dcterms:W3CDTF">2026-04-25T10:41:02.8700000Z</dcterms:modified>
</coreProperties>
</file>